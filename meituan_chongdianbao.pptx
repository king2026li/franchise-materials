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95" r:id="rId5"/>
    <p:sldId id="268" r:id="rId6"/>
    <p:sldId id="269" r:id="rId7"/>
    <p:sldId id="270" r:id="rId8"/>
    <p:sldId id="271" r:id="rId9"/>
    <p:sldId id="272" r:id="rId10"/>
    <p:sldId id="273" r:id="rId11"/>
    <p:sldId id="296" r:id="rId12"/>
    <p:sldId id="301" r:id="rId13"/>
    <p:sldId id="282" r:id="rId14"/>
    <p:sldId id="278" r:id="rId15"/>
    <p:sldId id="300" r:id="rId16"/>
    <p:sldId id="287" r:id="rId17"/>
    <p:sldId id="29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6.png"/><Relationship Id="rId1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7.png"/><Relationship Id="rId3" Type="http://schemas.openxmlformats.org/officeDocument/2006/relationships/tags" Target="../tags/tag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0.jpeg"/><Relationship Id="rId7" Type="http://schemas.openxmlformats.org/officeDocument/2006/relationships/image" Target="../media/image39.png"/><Relationship Id="rId6" Type="http://schemas.openxmlformats.org/officeDocument/2006/relationships/tags" Target="../tags/tag4.xml"/><Relationship Id="rId5" Type="http://schemas.openxmlformats.org/officeDocument/2006/relationships/image" Target="../media/image38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2.png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image" Target="../media/image41.jpeg"/><Relationship Id="rId3" Type="http://schemas.openxmlformats.org/officeDocument/2006/relationships/tags" Target="../tags/tag5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image" Target="../media/image46.png"/><Relationship Id="rId7" Type="http://schemas.openxmlformats.org/officeDocument/2006/relationships/tags" Target="../tags/tag10.xml"/><Relationship Id="rId6" Type="http://schemas.openxmlformats.org/officeDocument/2006/relationships/image" Target="../media/image45.png"/><Relationship Id="rId5" Type="http://schemas.openxmlformats.org/officeDocument/2006/relationships/tags" Target="../tags/tag9.xml"/><Relationship Id="rId4" Type="http://schemas.openxmlformats.org/officeDocument/2006/relationships/image" Target="../media/image44.png"/><Relationship Id="rId3" Type="http://schemas.openxmlformats.org/officeDocument/2006/relationships/tags" Target="../tags/tag8.xml"/><Relationship Id="rId2" Type="http://schemas.openxmlformats.org/officeDocument/2006/relationships/image" Target="../media/image10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7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862571" y="0"/>
            <a:ext cx="5329428" cy="6858000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540645" y="2359039"/>
            <a:ext cx="3392804" cy="6851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5000"/>
              </a:lnSpc>
            </a:pPr>
            <a:r>
              <a:rPr sz="5100" kern="0" spc="200" dirty="0">
                <a:solidFill>
                  <a:srgbClr val="1A0D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美团充电宝</a:t>
            </a:r>
            <a:endParaRPr lang="en-US" altLang="en-US" sz="5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2770133" y="5657951"/>
            <a:ext cx="3880924" cy="4857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15240" algn="l" rtl="0" eaLnBrk="0">
              <a:lnSpc>
                <a:spcPct val="96000"/>
              </a:lnSpc>
            </a:pPr>
            <a:r>
              <a:rPr kern="0" spc="-30" dirty="0">
                <a:solidFill>
                  <a:srgbClr val="4D4D4D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公司地址</a:t>
            </a:r>
            <a:endParaRPr lang="en-US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rtl="0" eaLnBrk="0">
              <a:lnSpc>
                <a:spcPct val="103000"/>
              </a:lnSpc>
            </a:pPr>
            <a:endParaRPr lang="en-US" altLang="en-US" sz="105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1600" kern="0" spc="0" dirty="0">
                <a:solidFill>
                  <a:srgbClr val="4D4D4D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北京市朝阳区望京东路锐创国</a:t>
            </a:r>
            <a:r>
              <a:rPr sz="1600" kern="0" spc="-10" dirty="0">
                <a:solidFill>
                  <a:srgbClr val="4D4D4D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际中心</a:t>
            </a:r>
            <a:r>
              <a:rPr sz="1600" kern="0" spc="-10" dirty="0">
                <a:solidFill>
                  <a:srgbClr val="4D4D4D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/>
              </a:rPr>
              <a:t>B</a:t>
            </a:r>
            <a:r>
              <a:rPr sz="1600" kern="0" spc="-10" dirty="0">
                <a:solidFill>
                  <a:srgbClr val="4D4D4D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座</a:t>
            </a:r>
            <a:r>
              <a:rPr sz="1600" kern="0" spc="-10" dirty="0">
                <a:solidFill>
                  <a:srgbClr val="4D4D4D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/>
              </a:rPr>
              <a:t>4</a:t>
            </a:r>
            <a:r>
              <a:rPr sz="1600" kern="0" spc="-10" dirty="0">
                <a:solidFill>
                  <a:srgbClr val="4D4D4D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层</a:t>
            </a:r>
            <a:endParaRPr lang="en-US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334667" y="5657951"/>
            <a:ext cx="2629914" cy="4660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marL="13970" algn="l" rtl="0" eaLnBrk="0">
              <a:lnSpc>
                <a:spcPct val="95000"/>
              </a:lnSpc>
            </a:pPr>
            <a:r>
              <a:rPr kern="0" spc="-20" dirty="0">
                <a:solidFill>
                  <a:srgbClr val="4D4D4D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联系邮箱</a:t>
            </a:r>
            <a:endParaRPr lang="en-US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rtl="0" eaLnBrk="0">
              <a:lnSpc>
                <a:spcPct val="107000"/>
              </a:lnSpc>
            </a:pPr>
            <a:endParaRPr lang="en-US" altLang="en-US" sz="9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700" algn="l" rtl="0" eaLnBrk="0">
              <a:lnSpc>
                <a:spcPct val="93000"/>
              </a:lnSpc>
              <a:spcBef>
                <a:spcPts val="0"/>
              </a:spcBef>
            </a:pPr>
            <a:r>
              <a:rPr lang="en-US" sz="16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wangliubing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@</a:t>
            </a:r>
            <a:r>
              <a:rPr sz="1600" u="sng" kern="0" spc="0" dirty="0">
                <a:solidFill>
                  <a:srgbClr val="0563C1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meitua</a:t>
            </a:r>
            <a:r>
              <a:rPr sz="1600" u="sng" kern="0" spc="-10" dirty="0">
                <a:solidFill>
                  <a:srgbClr val="0563C1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n.com</a:t>
            </a:r>
            <a:endParaRPr lang="en-US" altLang="en-US" sz="16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337108" y="6406095"/>
            <a:ext cx="3663950" cy="1689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900" i="1" kern="0" spc="10" dirty="0">
                <a:solidFill>
                  <a:srgbClr val="A5A5A5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*</a:t>
            </a:r>
            <a:r>
              <a:rPr sz="1000" i="1" kern="0" spc="10" dirty="0">
                <a:solidFill>
                  <a:srgbClr val="A5A5A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本招商手册不构成合作要约，一切合作</a:t>
            </a:r>
            <a:r>
              <a:rPr sz="1000" i="1" kern="0" spc="0" dirty="0">
                <a:solidFill>
                  <a:srgbClr val="A5A5A5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协议以最终签署协议为准</a:t>
            </a:r>
            <a:endParaRPr lang="en-US" altLang="en-US" sz="1000" dirty="0"/>
          </a:p>
        </p:txBody>
      </p:sp>
      <p:sp>
        <p:nvSpPr>
          <p:cNvPr id="16" name="path"/>
          <p:cNvSpPr/>
          <p:nvPr/>
        </p:nvSpPr>
        <p:spPr>
          <a:xfrm>
            <a:off x="335279" y="5408675"/>
            <a:ext cx="5978652" cy="45720"/>
          </a:xfrm>
          <a:custGeom>
            <a:avLst/>
            <a:gdLst/>
            <a:ahLst/>
            <a:cxnLst/>
            <a:rect l="0" t="0" r="0" b="0"/>
            <a:pathLst>
              <a:path w="9415" h="72">
                <a:moveTo>
                  <a:pt x="0" y="0"/>
                </a:moveTo>
                <a:lnTo>
                  <a:pt x="9415" y="0"/>
                </a:lnTo>
                <a:lnTo>
                  <a:pt x="9415" y="72"/>
                </a:lnTo>
                <a:lnTo>
                  <a:pt x="0" y="72"/>
                </a:lnTo>
                <a:lnTo>
                  <a:pt x="0" y="0"/>
                </a:lnTo>
                <a:close/>
              </a:path>
            </a:pathLst>
          </a:custGeom>
          <a:solidFill>
            <a:srgbClr val="FFD1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" name="textbox 6"/>
          <p:cNvSpPr/>
          <p:nvPr/>
        </p:nvSpPr>
        <p:spPr>
          <a:xfrm>
            <a:off x="2365238" y="4688273"/>
            <a:ext cx="4063979" cy="68516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5000"/>
              </a:lnSpc>
            </a:pPr>
            <a:r>
              <a:rPr lang="zh-CN" altLang="en-US" sz="5100" kern="0" spc="200" dirty="0">
                <a:solidFill>
                  <a:srgbClr val="1A0D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合作解决方案</a:t>
            </a:r>
            <a:endParaRPr lang="en-US" altLang="en-US" sz="5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path"/>
          <p:cNvSpPr/>
          <p:nvPr/>
        </p:nvSpPr>
        <p:spPr>
          <a:xfrm>
            <a:off x="336804" y="326135"/>
            <a:ext cx="11518392" cy="6147816"/>
          </a:xfrm>
          <a:custGeom>
            <a:avLst/>
            <a:gdLst/>
            <a:ahLst/>
            <a:cxnLst/>
            <a:rect l="0" t="0" r="0" b="0"/>
            <a:pathLst>
              <a:path w="18139" h="9681">
                <a:moveTo>
                  <a:pt x="0" y="0"/>
                </a:moveTo>
                <a:lnTo>
                  <a:pt x="18139" y="0"/>
                </a:lnTo>
                <a:lnTo>
                  <a:pt x="18139" y="9681"/>
                </a:lnTo>
                <a:lnTo>
                  <a:pt x="0" y="9681"/>
                </a:lnTo>
                <a:lnTo>
                  <a:pt x="0" y="0"/>
                </a:lnTo>
                <a:close/>
                <a:moveTo>
                  <a:pt x="153" y="153"/>
                </a:moveTo>
                <a:lnTo>
                  <a:pt x="153" y="9530"/>
                </a:lnTo>
                <a:lnTo>
                  <a:pt x="17985" y="9530"/>
                </a:lnTo>
                <a:lnTo>
                  <a:pt x="17985" y="153"/>
                </a:lnTo>
                <a:lnTo>
                  <a:pt x="153" y="153"/>
                </a:lnTo>
              </a:path>
            </a:pathLst>
          </a:custGeom>
          <a:solidFill>
            <a:srgbClr val="FFC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73548" y="2137540"/>
            <a:ext cx="5334000" cy="3555491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7944292" y="2137540"/>
            <a:ext cx="2148840" cy="33369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22860" algn="l" rtl="0" eaLnBrk="0">
              <a:lnSpc>
                <a:spcPct val="87000"/>
              </a:lnSpc>
            </a:pPr>
            <a:r>
              <a:rPr lang="zh-CN" sz="2300" b="1" kern="0" spc="70" dirty="0">
                <a:solidFill>
                  <a:srgbClr val="262626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一、</a:t>
            </a:r>
            <a:r>
              <a:rPr sz="2300" b="1" kern="0" spc="70" dirty="0">
                <a:solidFill>
                  <a:srgbClr val="262626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产品介绍</a:t>
            </a:r>
            <a:endParaRPr lang="en-US" altLang="en-US" sz="23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3335" algn="l" rtl="0" eaLnBrk="0">
              <a:lnSpc>
                <a:spcPts val="5850"/>
              </a:lnSpc>
            </a:pPr>
            <a:r>
              <a:rPr lang="zh-CN" altLang="en-US" sz="2300" b="1" dirty="0">
                <a:latin typeface="楷体" panose="02010609060101010101" pitchFamily="49" charset="-122"/>
                <a:ea typeface="楷体" panose="02010609060101010101" pitchFamily="49" charset="-122"/>
              </a:rPr>
              <a:t>二、平台优势</a:t>
            </a:r>
            <a:endParaRPr lang="en-US" altLang="en-US" sz="1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695"/>
              </a:spcBef>
            </a:pPr>
            <a:r>
              <a:rPr lang="zh-CN" altLang="en-US" sz="2300" b="1" dirty="0">
                <a:latin typeface="楷体" panose="02010609060101010101" pitchFamily="49" charset="-122"/>
                <a:ea typeface="楷体" panose="02010609060101010101" pitchFamily="49" charset="-122"/>
              </a:rPr>
              <a:t>三、政策介绍</a:t>
            </a:r>
            <a:endParaRPr lang="en-US" altLang="en-US" sz="23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4605" algn="l" rtl="0" eaLnBrk="0">
              <a:lnSpc>
                <a:spcPts val="5695"/>
              </a:lnSpc>
            </a:pPr>
            <a:r>
              <a:rPr lang="zh-CN" altLang="en-US" sz="2300" b="1" dirty="0">
                <a:latin typeface="楷体" panose="02010609060101010101" pitchFamily="49" charset="-122"/>
                <a:ea typeface="楷体" panose="02010609060101010101" pitchFamily="49" charset="-122"/>
              </a:rPr>
              <a:t>四、星级制度</a:t>
            </a:r>
            <a:endParaRPr lang="en-US" altLang="zh-CN" sz="23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4605" algn="l" rtl="0" eaLnBrk="0">
              <a:lnSpc>
                <a:spcPts val="5695"/>
              </a:lnSpc>
            </a:pPr>
            <a:r>
              <a:rPr lang="zh-CN" altLang="en-US" sz="2300" b="1" dirty="0">
                <a:latin typeface="楷体" panose="02010609060101010101" pitchFamily="49" charset="-122"/>
                <a:ea typeface="楷体" panose="02010609060101010101" pitchFamily="49" charset="-122"/>
              </a:rPr>
              <a:t>五、运维保障</a:t>
            </a:r>
            <a:endParaRPr lang="zh-CN" altLang="en-US" sz="23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3810812" y="1102245"/>
            <a:ext cx="3439795" cy="8540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lang="en-US" altLang="en-US" sz="100" dirty="0"/>
          </a:p>
          <a:p>
            <a:pPr algn="r" rtl="0" eaLnBrk="0">
              <a:lnSpc>
                <a:spcPct val="82000"/>
              </a:lnSpc>
            </a:pPr>
            <a:r>
              <a:rPr sz="6600" kern="0" spc="-190" dirty="0">
                <a:solidFill>
                  <a:srgbClr val="4D4D4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sz="6600" kern="0" spc="1550" dirty="0">
                <a:solidFill>
                  <a:srgbClr val="4D4D4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5100" b="1" kern="0" spc="-190" dirty="0">
                <a:solidFill>
                  <a:srgbClr val="FFD10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目</a:t>
            </a:r>
            <a:r>
              <a:rPr sz="5100" kern="0" spc="-190" dirty="0">
                <a:solidFill>
                  <a:srgbClr val="FFD10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  </a:t>
            </a:r>
            <a:r>
              <a:rPr sz="5100" b="1" kern="0" spc="-190" dirty="0">
                <a:solidFill>
                  <a:srgbClr val="FFD10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录</a:t>
            </a:r>
            <a:endParaRPr lang="en-US" altLang="en-US" sz="5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7307" y="6239899"/>
            <a:ext cx="10499876" cy="3549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27111" y="1295908"/>
            <a:ext cx="841375" cy="762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336804" y="459463"/>
            <a:ext cx="7917553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温馨提示：本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PPT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共计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28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页，包含五大板块内容，需要您</a:t>
            </a:r>
            <a:r>
              <a:rPr lang="en-US" altLang="zh-CN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8-10</a:t>
            </a:r>
            <a:r>
              <a:rPr lang="zh-CN" alt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分钟完成阅读。</a:t>
            </a:r>
            <a:endParaRPr lang="zh-CN" alt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path"/>
          <p:cNvSpPr/>
          <p:nvPr/>
        </p:nvSpPr>
        <p:spPr>
          <a:xfrm>
            <a:off x="336804" y="326135"/>
            <a:ext cx="11518392" cy="6147816"/>
          </a:xfrm>
          <a:custGeom>
            <a:avLst/>
            <a:gdLst/>
            <a:ahLst/>
            <a:cxnLst/>
            <a:rect l="0" t="0" r="0" b="0"/>
            <a:pathLst>
              <a:path w="18139" h="9681">
                <a:moveTo>
                  <a:pt x="0" y="0"/>
                </a:moveTo>
                <a:lnTo>
                  <a:pt x="18139" y="0"/>
                </a:lnTo>
                <a:lnTo>
                  <a:pt x="18139" y="9681"/>
                </a:lnTo>
                <a:lnTo>
                  <a:pt x="0" y="9681"/>
                </a:lnTo>
                <a:lnTo>
                  <a:pt x="0" y="0"/>
                </a:lnTo>
                <a:close/>
                <a:moveTo>
                  <a:pt x="153" y="153"/>
                </a:moveTo>
                <a:lnTo>
                  <a:pt x="153" y="9530"/>
                </a:lnTo>
                <a:lnTo>
                  <a:pt x="17985" y="9530"/>
                </a:lnTo>
                <a:lnTo>
                  <a:pt x="17985" y="153"/>
                </a:lnTo>
                <a:lnTo>
                  <a:pt x="153" y="153"/>
                </a:lnTo>
              </a:path>
            </a:pathLst>
          </a:custGeom>
          <a:solidFill>
            <a:srgbClr val="FFC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" name="textbox 26"/>
          <p:cNvSpPr/>
          <p:nvPr/>
        </p:nvSpPr>
        <p:spPr>
          <a:xfrm>
            <a:off x="1732546" y="2516505"/>
            <a:ext cx="9182501" cy="951591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22860" algn="l" rtl="0" eaLnBrk="0">
              <a:lnSpc>
                <a:spcPct val="87000"/>
              </a:lnSpc>
            </a:pPr>
            <a:r>
              <a:rPr lang="zh-CN" sz="4800" b="1" kern="0" spc="70" dirty="0">
                <a:solidFill>
                  <a:srgbClr val="262626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一、</a:t>
            </a:r>
            <a:r>
              <a:rPr sz="4800" b="1" kern="0" spc="70" dirty="0" err="1">
                <a:solidFill>
                  <a:srgbClr val="262626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产品介绍</a:t>
            </a:r>
            <a:r>
              <a:rPr lang="en-US" sz="4800" b="1" kern="0" spc="70" dirty="0">
                <a:solidFill>
                  <a:srgbClr val="262626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300" b="1" kern="0" spc="70" dirty="0">
                <a:solidFill>
                  <a:srgbClr val="262626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全类型及高性能产品满足市场需求</a:t>
            </a:r>
            <a:endParaRPr lang="en-US" altLang="en-US" sz="23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3335" algn="l" rtl="0" eaLnBrk="0">
              <a:lnSpc>
                <a:spcPts val="5850"/>
              </a:lnSpc>
            </a:pPr>
            <a:endParaRPr lang="en-US" altLang="en-US" sz="1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3810812" y="1102245"/>
            <a:ext cx="3439795" cy="8540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lang="en-US" altLang="en-US" sz="100" dirty="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07307" y="6239899"/>
            <a:ext cx="10499876" cy="354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picture 3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262933" y="1072077"/>
            <a:ext cx="2360591" cy="2926694"/>
          </a:xfrm>
          <a:prstGeom prst="rect">
            <a:avLst/>
          </a:prstGeom>
        </p:spPr>
      </p:pic>
      <p:pic>
        <p:nvPicPr>
          <p:cNvPr id="380" name="picture 3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785714" y="1667904"/>
            <a:ext cx="1432985" cy="1775688"/>
          </a:xfrm>
          <a:prstGeom prst="rect">
            <a:avLst/>
          </a:prstGeom>
        </p:spPr>
      </p:pic>
      <p:pic>
        <p:nvPicPr>
          <p:cNvPr id="382" name="picture 3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72944" y="2002023"/>
            <a:ext cx="1420415" cy="1356598"/>
          </a:xfrm>
          <a:prstGeom prst="rect">
            <a:avLst/>
          </a:prstGeom>
        </p:spPr>
      </p:pic>
      <p:sp>
        <p:nvSpPr>
          <p:cNvPr id="386" name="textbox 386"/>
          <p:cNvSpPr/>
          <p:nvPr/>
        </p:nvSpPr>
        <p:spPr>
          <a:xfrm>
            <a:off x="1168421" y="5340394"/>
            <a:ext cx="2199836" cy="345437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lang="zh-CN" altLang="en-US" sz="1500" b="1" kern="0" spc="5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/>
              </a:rPr>
              <a:t>我们的优势：</a:t>
            </a:r>
            <a:endParaRPr lang="en-US" altLang="en-US" sz="15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88" name="picture 3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894162" y="402989"/>
            <a:ext cx="1797964" cy="369678"/>
          </a:xfrm>
          <a:prstGeom prst="rect">
            <a:avLst/>
          </a:prstGeom>
        </p:spPr>
      </p:pic>
      <p:sp>
        <p:nvSpPr>
          <p:cNvPr id="390" name="textbox 390"/>
          <p:cNvSpPr/>
          <p:nvPr/>
        </p:nvSpPr>
        <p:spPr>
          <a:xfrm>
            <a:off x="1319530" y="232410"/>
            <a:ext cx="3016885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b="1" dirty="0"/>
          </a:p>
          <a:p>
            <a:pPr marL="12700" algn="l" rtl="0" eaLnBrk="0">
              <a:lnSpc>
                <a:spcPct val="98000"/>
              </a:lnSpc>
            </a:pPr>
            <a:r>
              <a:rPr lang="zh-CN" sz="2700" b="1" kern="0" spc="60" dirty="0">
                <a:solidFill>
                  <a:srgbClr val="00000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一、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产品</a:t>
            </a:r>
            <a:r>
              <a:rPr lang="zh-CN" sz="2700" b="1" kern="0" spc="60" dirty="0">
                <a:solidFill>
                  <a:srgbClr val="000000">
                    <a:alpha val="100000"/>
                  </a:srgb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介绍</a:t>
            </a:r>
            <a:endParaRPr lang="zh-CN" sz="2700" b="1" kern="0" spc="60" dirty="0">
              <a:solidFill>
                <a:srgbClr val="000000">
                  <a:alpha val="100000"/>
                </a:srgbClr>
              </a:solidFill>
              <a:latin typeface="华文楷体" panose="02010600040101010101" pitchFamily="2" charset="-122"/>
              <a:ea typeface="华文楷体" panose="0201060004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92" name="picture 3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29257" y="371140"/>
            <a:ext cx="639164" cy="617238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057400" y="4246712"/>
            <a:ext cx="65661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7415" rtl="0" eaLnBrk="0">
              <a:lnSpc>
                <a:spcPct val="100000"/>
              </a:lnSpc>
            </a:pPr>
            <a:r>
              <a:rPr lang="zh-CN" altLang="en-US" sz="1800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市场常见</a:t>
            </a:r>
            <a:r>
              <a:rPr lang="en-US" altLang="zh-CN" sz="1800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TS</a:t>
            </a:r>
            <a:r>
              <a:rPr lang="zh-CN" altLang="en-US" sz="1800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系列机型，同时我们也可根据客户需求</a:t>
            </a:r>
            <a:endParaRPr lang="zh-CN" altLang="en-US" sz="1800" kern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  <a:p>
            <a:pPr marL="907415" rtl="0" eaLnBrk="0">
              <a:lnSpc>
                <a:spcPct val="100000"/>
              </a:lnSpc>
            </a:pPr>
            <a:r>
              <a:rPr lang="zh-CN" altLang="en-US" sz="1800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及场景特性进行硬件改造。</a:t>
            </a:r>
            <a:endParaRPr lang="zh-CN" altLang="en-US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971800" y="5340394"/>
            <a:ext cx="6097604" cy="9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rtl="0" eaLnBrk="0">
              <a:lnSpc>
                <a:spcPct val="100000"/>
              </a:lnSpc>
            </a:pPr>
            <a:r>
              <a:rPr lang="zh-CN" altLang="en-US" sz="1800" b="1" kern="0" spc="5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多场景高适配性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700" rtl="0" eaLnBrk="0">
              <a:lnSpc>
                <a:spcPct val="100000"/>
              </a:lnSpc>
              <a:spcBef>
                <a:spcPts val="540"/>
              </a:spcBef>
            </a:pPr>
            <a:r>
              <a:rPr lang="zh-CN" altLang="en-US" sz="1800" b="1" kern="0" spc="5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同点位高竞争力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700" rtl="0" eaLnBrk="0">
              <a:lnSpc>
                <a:spcPct val="99000"/>
              </a:lnSpc>
              <a:spcBef>
                <a:spcPts val="5"/>
              </a:spcBef>
            </a:pPr>
            <a:r>
              <a:rPr lang="zh-CN" altLang="en-US" sz="1800" b="1" kern="0" spc="5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产品高性价比</a:t>
            </a:r>
            <a:endParaRPr lang="zh-CN" altLang="en-US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textbox 386"/>
          <p:cNvSpPr/>
          <p:nvPr/>
        </p:nvSpPr>
        <p:spPr>
          <a:xfrm>
            <a:off x="1168421" y="2646062"/>
            <a:ext cx="2199836" cy="345437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00000"/>
              </a:lnSpc>
            </a:pPr>
            <a:r>
              <a:rPr lang="zh-CN" altLang="en-US" sz="1500" b="1" kern="0" spc="5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/>
              </a:rPr>
              <a:t>我们的机型：</a:t>
            </a:r>
            <a:endParaRPr lang="en-US" altLang="en-US" sz="15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4" name="table 394"/>
          <p:cNvGraphicFramePr>
            <a:graphicFrameLocks noGrp="1"/>
          </p:cNvGraphicFramePr>
          <p:nvPr/>
        </p:nvGraphicFramePr>
        <p:xfrm>
          <a:off x="4603488" y="1347787"/>
          <a:ext cx="7360713" cy="5051997"/>
        </p:xfrm>
        <a:graphic>
          <a:graphicData uri="http://schemas.openxmlformats.org/drawingml/2006/table">
            <a:tbl>
              <a:tblPr/>
              <a:tblGrid>
                <a:gridCol w="931493"/>
                <a:gridCol w="1470817"/>
                <a:gridCol w="4958403"/>
              </a:tblGrid>
              <a:tr h="48780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lang="en-US" altLang="en-US" sz="5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841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项目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6510" algn="l" rtl="0" eaLnBrk="0">
                        <a:lnSpc>
                          <a:spcPct val="95000"/>
                        </a:lnSpc>
                        <a:spcBef>
                          <a:spcPts val="340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硬件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5875" algn="l" rtl="0" eaLnBrk="0">
                        <a:lnSpc>
                          <a:spcPct val="96000"/>
                        </a:lnSpc>
                        <a:spcBef>
                          <a:spcPts val="340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接口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41000"/>
                        </a:lnSpc>
                      </a:pPr>
                      <a:endParaRPr lang="en-US" altLang="en-US" sz="3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968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常规参数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lang="en-US" altLang="en-US" sz="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31775" algn="l" rtl="0" eaLnBrk="0">
                        <a:lnSpc>
                          <a:spcPct val="95000"/>
                        </a:lnSpc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产品型号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47650" algn="l" rtl="0" eaLnBrk="0">
                        <a:lnSpc>
                          <a:spcPct val="96000"/>
                        </a:lnSpc>
                        <a:spcBef>
                          <a:spcPts val="1490"/>
                        </a:spcBef>
                      </a:pPr>
                      <a:r>
                        <a:rPr sz="1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电池仓位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31775" algn="l" rtl="0" eaLnBrk="0">
                        <a:lnSpc>
                          <a:spcPct val="95000"/>
                        </a:lnSpc>
                        <a:spcBef>
                          <a:spcPts val="80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通讯模块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31775" algn="l" rtl="0" eaLnBrk="0">
                        <a:lnSpc>
                          <a:spcPct val="84000"/>
                        </a:lnSpc>
                        <a:spcBef>
                          <a:spcPts val="80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借用二维码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47650" algn="l" rtl="0" eaLnBrk="0">
                        <a:lnSpc>
                          <a:spcPts val="2025"/>
                        </a:lnSpc>
                      </a:pPr>
                      <a:r>
                        <a:rPr sz="1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电源接口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31775" algn="l" rtl="0" eaLnBrk="0">
                        <a:lnSpc>
                          <a:spcPct val="95000"/>
                        </a:lnSpc>
                        <a:spcBef>
                          <a:spcPts val="88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广告牌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33045" algn="l" rtl="0" eaLnBrk="0">
                        <a:lnSpc>
                          <a:spcPct val="84000"/>
                        </a:lnSpc>
                        <a:spcBef>
                          <a:spcPts val="745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工作温度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33045" algn="l" rtl="0" eaLnBrk="0">
                        <a:lnSpc>
                          <a:spcPts val="1990"/>
                        </a:lnSpc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工作湿度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31140" algn="l" rtl="0" eaLnBrk="0">
                        <a:lnSpc>
                          <a:spcPct val="84000"/>
                        </a:lnSpc>
                        <a:spcBef>
                          <a:spcPts val="885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输入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31140" algn="l" rtl="0" eaLnBrk="0">
                        <a:lnSpc>
                          <a:spcPts val="2715"/>
                        </a:lnSpc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输出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32410" algn="l" rtl="0" eaLnBrk="0">
                        <a:lnSpc>
                          <a:spcPts val="2715"/>
                        </a:lnSpc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重量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31140" algn="l" rtl="0" eaLnBrk="0">
                        <a:lnSpc>
                          <a:spcPct val="84000"/>
                        </a:lnSpc>
                        <a:spcBef>
                          <a:spcPts val="34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尺寸(mm)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31140" algn="l" rtl="0" eaLnBrk="0">
                        <a:lnSpc>
                          <a:spcPts val="2715"/>
                        </a:lnSpc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颜色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32410" algn="l" rtl="0" eaLnBrk="0">
                        <a:lnSpc>
                          <a:spcPct val="84000"/>
                        </a:lnSpc>
                        <a:spcBef>
                          <a:spcPts val="33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耗电量（周均）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231775" algn="l" rtl="0" eaLnBrk="0">
                        <a:lnSpc>
                          <a:spcPts val="2910"/>
                        </a:lnSpc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认证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lang="en-US" altLang="en-US" sz="5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4922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参数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44145" algn="l" rtl="0" eaLnBrk="0">
                        <a:lnSpc>
                          <a:spcPct val="95000"/>
                        </a:lnSpc>
                        <a:spcBef>
                          <a:spcPts val="1500"/>
                        </a:spcBef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MTC8E4AY1 （2仓充电）/MTC8F4AY1 （4仓充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电）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49225" algn="l" rtl="0" eaLnBrk="0">
                        <a:lnSpc>
                          <a:spcPct val="84000"/>
                        </a:lnSpc>
                        <a:spcBef>
                          <a:spcPts val="1485"/>
                        </a:spcBef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8仓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47955" algn="l" rtl="0" eaLnBrk="0">
                        <a:lnSpc>
                          <a:spcPts val="1900"/>
                        </a:lnSpc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4G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49225" algn="l" rtl="0" eaLnBrk="0">
                        <a:lnSpc>
                          <a:spcPct val="95000"/>
                        </a:lnSpc>
                        <a:spcBef>
                          <a:spcPts val="112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整面黄色灯箱展示二维码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49225" algn="l" rtl="0" eaLnBrk="0">
                        <a:lnSpc>
                          <a:spcPct val="84000"/>
                        </a:lnSpc>
                        <a:spcBef>
                          <a:spcPts val="76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两脚插座，默认自带2米电源线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49225" algn="l" rtl="0" eaLnBrk="0">
                        <a:lnSpc>
                          <a:spcPts val="1995"/>
                        </a:lnSpc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支持充电机柜顶部3M胶固定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47320" algn="l" rtl="0" eaLnBrk="0">
                        <a:lnSpc>
                          <a:spcPts val="1365"/>
                        </a:lnSpc>
                        <a:spcBef>
                          <a:spcPts val="890"/>
                        </a:spcBef>
                      </a:pPr>
                      <a:r>
                        <a:rPr sz="12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-10℃~45℃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51130" algn="l" rtl="0" eaLnBrk="0">
                        <a:lnSpc>
                          <a:spcPct val="95000"/>
                        </a:lnSpc>
                        <a:spcBef>
                          <a:spcPts val="635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5%～95%（无凝结）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49860" algn="l" rtl="0" eaLnBrk="0">
                        <a:lnSpc>
                          <a:spcPct val="97000"/>
                        </a:lnSpc>
                        <a:spcBef>
                          <a:spcPts val="740"/>
                        </a:spcBef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200-240V~1.0A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50/60Hz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51130" algn="l" rtl="0" eaLnBrk="0">
                        <a:lnSpc>
                          <a:spcPct val="95000"/>
                        </a:lnSpc>
                        <a:spcBef>
                          <a:spcPts val="1435"/>
                        </a:spcBef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5.0V —— 5A Max（2仓充电） /5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.0V ——</a:t>
                      </a:r>
                      <a:r>
                        <a:rPr sz="12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9A Max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5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51130" algn="l" rtl="0" eaLnBrk="0">
                        <a:lnSpc>
                          <a:spcPct val="79000"/>
                        </a:lnSpc>
                        <a:spcBef>
                          <a:spcPts val="34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3.1Kg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49860" algn="l" rtl="0" eaLnBrk="0">
                        <a:lnSpc>
                          <a:spcPct val="95000"/>
                        </a:lnSpc>
                        <a:spcBef>
                          <a:spcPts val="1500"/>
                        </a:spcBef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251（宽）mm</a:t>
                      </a:r>
                      <a:r>
                        <a:rPr sz="12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× 275（高）mm x 230（厚）mm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49225" algn="l" rtl="0" eaLnBrk="0">
                        <a:lnSpc>
                          <a:spcPct val="95000"/>
                        </a:lnSpc>
                        <a:spcBef>
                          <a:spcPts val="1460"/>
                        </a:spcBef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美团黄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44145" algn="l" rtl="0" eaLnBrk="0">
                        <a:lnSpc>
                          <a:spcPct val="84000"/>
                        </a:lnSpc>
                        <a:spcBef>
                          <a:spcPts val="995"/>
                        </a:spcBef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MTC8E4AY1：0.5度电（按日订单1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/天）；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44145" algn="l" rtl="0" eaLnBrk="0">
                        <a:lnSpc>
                          <a:spcPts val="1470"/>
                        </a:lnSpc>
                      </a:pP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MTC8F4AY1：1度电（按日订单2/</a:t>
                      </a: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天）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10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47320" algn="l" rtl="0" eaLnBrk="0">
                        <a:lnSpc>
                          <a:spcPct val="79000"/>
                        </a:lnSpc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CCC、SRRC、CTA</a:t>
                      </a:r>
                      <a:endParaRPr lang="en-US" altLang="en-US" sz="1200" b="1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96" name="picture 39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29256" y="4233228"/>
            <a:ext cx="1849400" cy="2007205"/>
          </a:xfrm>
          <a:prstGeom prst="rect">
            <a:avLst/>
          </a:prstGeom>
        </p:spPr>
      </p:pic>
      <p:pic>
        <p:nvPicPr>
          <p:cNvPr id="398" name="picture 3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19029" y="1933085"/>
            <a:ext cx="1950541" cy="1841629"/>
          </a:xfrm>
          <a:prstGeom prst="rect">
            <a:avLst/>
          </a:prstGeom>
        </p:spPr>
      </p:pic>
      <p:pic>
        <p:nvPicPr>
          <p:cNvPr id="400" name="picture 4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550593" y="4318221"/>
            <a:ext cx="1918977" cy="1837217"/>
          </a:xfrm>
          <a:prstGeom prst="rect">
            <a:avLst/>
          </a:prstGeom>
        </p:spPr>
      </p:pic>
      <p:pic>
        <p:nvPicPr>
          <p:cNvPr id="402" name="picture 4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9257" y="1960266"/>
            <a:ext cx="1855853" cy="1787268"/>
          </a:xfrm>
          <a:prstGeom prst="rect">
            <a:avLst/>
          </a:prstGeom>
        </p:spPr>
      </p:pic>
      <p:sp>
        <p:nvSpPr>
          <p:cNvPr id="404" name="textbox 404"/>
          <p:cNvSpPr/>
          <p:nvPr/>
        </p:nvSpPr>
        <p:spPr>
          <a:xfrm>
            <a:off x="229952" y="1268282"/>
            <a:ext cx="3280129" cy="3917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lang="en-US" altLang="en-US" sz="600" dirty="0"/>
          </a:p>
          <a:p>
            <a:pPr marL="436880" algn="l" rtl="0" eaLnBrk="0">
              <a:lnSpc>
                <a:spcPct val="99000"/>
              </a:lnSpc>
              <a:spcBef>
                <a:spcPts val="5"/>
              </a:spcBef>
            </a:pPr>
            <a:r>
              <a:rPr lang="zh-CN" altLang="en-US" sz="1700" kern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/>
              </a:rPr>
              <a:t>市场常见：</a:t>
            </a:r>
            <a:r>
              <a:rPr sz="1700" kern="0" spc="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/>
              </a:rPr>
              <a:t>TS</a:t>
            </a:r>
            <a:r>
              <a:rPr sz="1700" kern="0" spc="1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系列</a:t>
            </a:r>
            <a:r>
              <a:rPr sz="1700" kern="0" spc="1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Calibri" panose="020F0502020204030204"/>
              </a:rPr>
              <a:t>8</a:t>
            </a:r>
            <a:r>
              <a:rPr sz="1700" kern="0" spc="1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口机</a:t>
            </a:r>
            <a:r>
              <a:rPr lang="zh-CN" altLang="en-US" sz="1700" kern="0" spc="1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为例</a:t>
            </a:r>
            <a:endParaRPr lang="en-US" altLang="en-US" sz="17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06" name="picture 4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894162" y="402989"/>
            <a:ext cx="1797964" cy="369678"/>
          </a:xfrm>
          <a:prstGeom prst="rect">
            <a:avLst/>
          </a:prstGeom>
        </p:spPr>
      </p:pic>
      <p:sp>
        <p:nvSpPr>
          <p:cNvPr id="408" name="textbox 408"/>
          <p:cNvSpPr/>
          <p:nvPr/>
        </p:nvSpPr>
        <p:spPr>
          <a:xfrm>
            <a:off x="2143760" y="497338"/>
            <a:ext cx="3811270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b="1" dirty="0"/>
          </a:p>
          <a:p>
            <a:pPr marL="12700" algn="l" rtl="0" eaLnBrk="0">
              <a:lnSpc>
                <a:spcPct val="98000"/>
              </a:lnSpc>
            </a:pPr>
            <a:r>
              <a:rPr lang="zh-CN" sz="2700" b="1" kern="0" spc="6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一、</a:t>
            </a:r>
            <a:r>
              <a:rPr sz="2700" b="1" kern="0" spc="6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产品</a:t>
            </a:r>
            <a:r>
              <a:rPr lang="zh-CN" sz="2700" b="1" kern="0" spc="6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展示</a:t>
            </a:r>
            <a:endParaRPr lang="zh-CN" sz="2700" b="1" kern="0" spc="60" dirty="0">
              <a:solidFill>
                <a:srgbClr val="000000">
                  <a:alpha val="100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410" name="picture 4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9257" y="371140"/>
            <a:ext cx="639164" cy="6172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2" name="table 412"/>
          <p:cNvGraphicFramePr>
            <a:graphicFrameLocks noGrp="1"/>
          </p:cNvGraphicFramePr>
          <p:nvPr/>
        </p:nvGraphicFramePr>
        <p:xfrm>
          <a:off x="4721885" y="1241488"/>
          <a:ext cx="7344096" cy="5216779"/>
        </p:xfrm>
        <a:graphic>
          <a:graphicData uri="http://schemas.openxmlformats.org/drawingml/2006/table">
            <a:tbl>
              <a:tblPr/>
              <a:tblGrid>
                <a:gridCol w="823348"/>
                <a:gridCol w="1544831"/>
                <a:gridCol w="4975917"/>
              </a:tblGrid>
              <a:tr h="50457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6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841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项目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6510" algn="l" rtl="0" eaLnBrk="0">
                        <a:lnSpc>
                          <a:spcPct val="95000"/>
                        </a:lnSpc>
                        <a:spcBef>
                          <a:spcPts val="340"/>
                        </a:spcBef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硬件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5875" algn="l" rtl="0" eaLnBrk="0">
                        <a:lnSpc>
                          <a:spcPct val="96000"/>
                        </a:lnSpc>
                        <a:spcBef>
                          <a:spcPts val="335"/>
                        </a:spcBef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接口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lang="en-US" altLang="en-US" sz="3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968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常规参数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>
                    <a:lnL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399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产品型号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54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89865" algn="l" rtl="0" eaLnBrk="0">
                        <a:lnSpc>
                          <a:spcPct val="96000"/>
                        </a:lnSpc>
                        <a:spcBef>
                          <a:spcPts val="335"/>
                        </a:spcBef>
                      </a:pP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电池仓位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3990" algn="l" rtl="0" eaLnBrk="0">
                        <a:lnSpc>
                          <a:spcPct val="95000"/>
                        </a:lnSpc>
                        <a:spcBef>
                          <a:spcPts val="1095"/>
                        </a:spcBef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通讯模块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3990" algn="l" rtl="0" eaLnBrk="0">
                        <a:lnSpc>
                          <a:spcPct val="84000"/>
                        </a:lnSpc>
                        <a:spcBef>
                          <a:spcPts val="1095"/>
                        </a:spcBef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借用二维码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89865" algn="l" rtl="0" eaLnBrk="0">
                        <a:lnSpc>
                          <a:spcPts val="2355"/>
                        </a:lnSpc>
                      </a:pP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电源接口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3990" algn="l" rtl="0" eaLnBrk="0">
                        <a:lnSpc>
                          <a:spcPct val="95000"/>
                        </a:lnSpc>
                        <a:spcBef>
                          <a:spcPts val="1245"/>
                        </a:spcBef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广告牌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3355" algn="l" rtl="0" eaLnBrk="0">
                        <a:lnSpc>
                          <a:spcPct val="84000"/>
                        </a:lnSpc>
                        <a:spcBef>
                          <a:spcPts val="1105"/>
                        </a:spcBef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输入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3355" algn="l" rtl="0" eaLnBrk="0">
                        <a:lnSpc>
                          <a:spcPts val="2355"/>
                        </a:lnSpc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输出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4625" algn="l" rtl="0" eaLnBrk="0">
                        <a:lnSpc>
                          <a:spcPct val="98000"/>
                        </a:lnSpc>
                        <a:spcBef>
                          <a:spcPts val="340"/>
                        </a:spcBef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重量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3355" algn="l" rtl="0" eaLnBrk="0">
                        <a:lnSpc>
                          <a:spcPct val="84000"/>
                        </a:lnSpc>
                        <a:spcBef>
                          <a:spcPts val="1055"/>
                        </a:spcBef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尺寸(mm)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3355" algn="l" rtl="0" eaLnBrk="0">
                        <a:lnSpc>
                          <a:spcPts val="2355"/>
                        </a:lnSpc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颜色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66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4625" algn="l" rtl="0" eaLnBrk="0">
                        <a:lnSpc>
                          <a:spcPct val="84000"/>
                        </a:lnSpc>
                        <a:spcBef>
                          <a:spcPts val="340"/>
                        </a:spcBef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耗电量（周均）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173990" algn="l" rtl="0" eaLnBrk="0">
                        <a:lnSpc>
                          <a:spcPts val="3440"/>
                        </a:lnSpc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认证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6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3401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参数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28930" algn="l" rtl="0" eaLnBrk="0">
                        <a:lnSpc>
                          <a:spcPct val="95000"/>
                        </a:lnSpc>
                        <a:spcBef>
                          <a:spcPts val="330"/>
                        </a:spcBef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MTC12F4AY1   （4仓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充电）；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28930" algn="l" rtl="0" eaLnBrk="0">
                        <a:lnSpc>
                          <a:spcPct val="95000"/>
                        </a:lnSpc>
                        <a:spcBef>
                          <a:spcPts val="65"/>
                        </a:spcBef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MTC12H4AY1 （8仓充电）/MTC12I4AY1 （12仓充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电）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43535" algn="l" rtl="0" eaLnBrk="0">
                        <a:lnSpc>
                          <a:spcPct val="84000"/>
                        </a:lnSpc>
                        <a:spcBef>
                          <a:spcPts val="1515"/>
                        </a:spcBef>
                      </a:pPr>
                      <a:r>
                        <a:rPr sz="12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12仓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32740" algn="l" rtl="0" eaLnBrk="0">
                        <a:lnSpc>
                          <a:spcPts val="2190"/>
                        </a:lnSpc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4G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34010" algn="l" rtl="0" eaLnBrk="0">
                        <a:lnSpc>
                          <a:spcPct val="95000"/>
                        </a:lnSpc>
                        <a:spcBef>
                          <a:spcPts val="1415"/>
                        </a:spcBef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整面黄色灯箱展示二维码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34010" algn="l" rtl="0" eaLnBrk="0">
                        <a:lnSpc>
                          <a:spcPct val="84000"/>
                        </a:lnSpc>
                        <a:spcBef>
                          <a:spcPts val="1095"/>
                        </a:spcBef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两脚插座，默认自带2米电源线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34010" algn="l" rtl="0" eaLnBrk="0">
                        <a:lnSpc>
                          <a:spcPts val="2355"/>
                        </a:lnSpc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支持充电机柜顶部3M胶固定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34645" algn="l" rtl="0" eaLnBrk="0">
                        <a:lnSpc>
                          <a:spcPct val="97000"/>
                        </a:lnSpc>
                        <a:spcBef>
                          <a:spcPts val="1255"/>
                        </a:spcBef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200-240V~1.0A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50/60Hz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35915" algn="l" rtl="0" eaLnBrk="0">
                        <a:lnSpc>
                          <a:spcPct val="84000"/>
                        </a:lnSpc>
                        <a:spcBef>
                          <a:spcPts val="1065"/>
                        </a:spcBef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5.0V —— 5A Max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5.0V</a:t>
                      </a:r>
                      <a:r>
                        <a:rPr sz="1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——</a:t>
                      </a:r>
                      <a:r>
                        <a:rPr sz="12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17A</a:t>
                      </a:r>
                      <a:r>
                        <a:rPr sz="12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Max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35915" algn="l" rtl="0" eaLnBrk="0">
                        <a:lnSpc>
                          <a:spcPts val="2355"/>
                        </a:lnSpc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5.0V ——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25A Max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32740" algn="l" rtl="0" eaLnBrk="0">
                        <a:lnSpc>
                          <a:spcPct val="79000"/>
                        </a:lnSpc>
                        <a:spcBef>
                          <a:spcPts val="1420"/>
                        </a:spcBef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4.1Kg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34645" algn="l" rtl="0" eaLnBrk="0">
                        <a:lnSpc>
                          <a:spcPct val="84000"/>
                        </a:lnSpc>
                        <a:spcBef>
                          <a:spcPts val="1130"/>
                        </a:spcBef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251（宽）mm</a:t>
                      </a:r>
                      <a:r>
                        <a:rPr sz="12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× 365（高）mm x 230（厚）mm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34010" algn="l" rtl="0" eaLnBrk="0">
                        <a:lnSpc>
                          <a:spcPts val="2355"/>
                        </a:lnSpc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美团黄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28930" algn="l" rtl="0" eaLnBrk="0">
                        <a:lnSpc>
                          <a:spcPct val="84000"/>
                        </a:lnSpc>
                        <a:spcBef>
                          <a:spcPts val="340"/>
                        </a:spcBef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MTC12F4AY1：1度电（按日订单2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/天）；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28930" algn="l" rtl="0" eaLnBrk="0">
                        <a:lnSpc>
                          <a:spcPts val="1470"/>
                        </a:lnSpc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MTC12I4AY1：1.5度电（按日订单4/</a:t>
                      </a: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天）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105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</a:pPr>
                      <a:endParaRPr lang="en-US" altLang="en-US" sz="3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  <a:p>
                      <a:pPr marL="332105" algn="l" rtl="0" eaLnBrk="0">
                        <a:lnSpc>
                          <a:spcPct val="79000"/>
                        </a:lnSpc>
                        <a:spcBef>
                          <a:spcPts val="0"/>
                        </a:spcBef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宋体" panose="02010600030101010101" pitchFamily="2" charset="-122"/>
                        </a:rPr>
                        <a:t>CCC、SRRC、CTA</a:t>
                      </a:r>
                      <a:endParaRPr lang="en-US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770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14" name="picture 4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925846" y="4193102"/>
            <a:ext cx="1527726" cy="1900317"/>
          </a:xfrm>
          <a:prstGeom prst="rect">
            <a:avLst/>
          </a:prstGeom>
        </p:spPr>
      </p:pic>
      <p:pic>
        <p:nvPicPr>
          <p:cNvPr id="416" name="picture 4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87324" y="4224121"/>
            <a:ext cx="1508426" cy="1877161"/>
          </a:xfrm>
          <a:prstGeom prst="rect">
            <a:avLst/>
          </a:prstGeom>
        </p:spPr>
      </p:pic>
      <p:pic>
        <p:nvPicPr>
          <p:cNvPr id="418" name="picture 4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968069" y="1894649"/>
            <a:ext cx="1502277" cy="1864741"/>
          </a:xfrm>
          <a:prstGeom prst="rect">
            <a:avLst/>
          </a:prstGeom>
        </p:spPr>
      </p:pic>
      <p:pic>
        <p:nvPicPr>
          <p:cNvPr id="420" name="picture 4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61567" y="1964521"/>
            <a:ext cx="1207978" cy="1748633"/>
          </a:xfrm>
          <a:prstGeom prst="rect">
            <a:avLst/>
          </a:prstGeom>
        </p:spPr>
      </p:pic>
      <p:pic>
        <p:nvPicPr>
          <p:cNvPr id="426" name="picture 4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894162" y="402989"/>
            <a:ext cx="1797964" cy="369678"/>
          </a:xfrm>
          <a:prstGeom prst="rect">
            <a:avLst/>
          </a:prstGeom>
        </p:spPr>
      </p:pic>
      <p:sp>
        <p:nvSpPr>
          <p:cNvPr id="428" name="textbox 428"/>
          <p:cNvSpPr/>
          <p:nvPr/>
        </p:nvSpPr>
        <p:spPr>
          <a:xfrm>
            <a:off x="2143671" y="545553"/>
            <a:ext cx="1433830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产品展示</a:t>
            </a:r>
            <a:endParaRPr lang="en-US" altLang="en-US" sz="2700" dirty="0"/>
          </a:p>
        </p:txBody>
      </p:sp>
      <p:pic>
        <p:nvPicPr>
          <p:cNvPr id="430" name="picture 4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9257" y="371140"/>
            <a:ext cx="639164" cy="61723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26019" y="1186842"/>
            <a:ext cx="389734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市场常见：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TS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系列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口机为例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picture 4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1040891"/>
            <a:ext cx="12192000" cy="5817108"/>
          </a:xfrm>
          <a:prstGeom prst="rect">
            <a:avLst/>
          </a:prstGeom>
        </p:spPr>
      </p:pic>
      <p:pic>
        <p:nvPicPr>
          <p:cNvPr id="434" name="picture 4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932393" y="1462344"/>
            <a:ext cx="1763303" cy="2498394"/>
          </a:xfrm>
          <a:prstGeom prst="rect">
            <a:avLst/>
          </a:prstGeom>
        </p:spPr>
      </p:pic>
      <p:pic>
        <p:nvPicPr>
          <p:cNvPr id="436" name="picture 4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766126" y="4113017"/>
            <a:ext cx="1769426" cy="2470029"/>
          </a:xfrm>
          <a:prstGeom prst="rect">
            <a:avLst/>
          </a:prstGeom>
        </p:spPr>
      </p:pic>
      <p:pic>
        <p:nvPicPr>
          <p:cNvPr id="438" name="picture 4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47546" y="4113017"/>
            <a:ext cx="1763824" cy="2470029"/>
          </a:xfrm>
          <a:prstGeom prst="rect">
            <a:avLst/>
          </a:prstGeom>
        </p:spPr>
      </p:pic>
      <p:pic>
        <p:nvPicPr>
          <p:cNvPr id="440" name="picture 4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87338" y="1490132"/>
            <a:ext cx="1772130" cy="2455500"/>
          </a:xfrm>
          <a:prstGeom prst="rect">
            <a:avLst/>
          </a:prstGeom>
        </p:spPr>
      </p:pic>
      <p:pic>
        <p:nvPicPr>
          <p:cNvPr id="442" name="picture 4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250096" y="1490119"/>
            <a:ext cx="1763824" cy="2455512"/>
          </a:xfrm>
          <a:prstGeom prst="rect">
            <a:avLst/>
          </a:prstGeom>
        </p:spPr>
      </p:pic>
      <p:sp>
        <p:nvSpPr>
          <p:cNvPr id="444" name="textbox 444"/>
          <p:cNvSpPr/>
          <p:nvPr/>
        </p:nvSpPr>
        <p:spPr>
          <a:xfrm>
            <a:off x="9302648" y="3791927"/>
            <a:ext cx="2259329" cy="94361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118000"/>
              </a:lnSpc>
            </a:pPr>
            <a:r>
              <a:rPr sz="1700" b="1" kern="0" spc="50" dirty="0">
                <a:solidFill>
                  <a:srgbClr val="4D4D4D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专利、认证资质齐全，</a:t>
            </a:r>
            <a:r>
              <a:rPr sz="1700" kern="0" spc="40" dirty="0">
                <a:solidFill>
                  <a:srgbClr val="4D4D4D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 </a:t>
            </a:r>
            <a:r>
              <a:rPr lang="zh-CN" altLang="en-US" sz="1700" b="1" kern="0" spc="110" dirty="0">
                <a:solidFill>
                  <a:srgbClr val="4D4D4D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让您合作无忧！</a:t>
            </a:r>
            <a:endParaRPr lang="en-US" altLang="en-US" sz="17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46" name="textbox 446"/>
          <p:cNvSpPr/>
          <p:nvPr/>
        </p:nvSpPr>
        <p:spPr>
          <a:xfrm>
            <a:off x="1456942" y="445514"/>
            <a:ext cx="2145029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12700" algn="l" rtl="0" eaLnBrk="0">
              <a:lnSpc>
                <a:spcPct val="98000"/>
              </a:lnSpc>
            </a:pPr>
            <a:r>
              <a:rPr sz="2700" b="1" kern="0" spc="70" dirty="0" err="1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产品质量保障</a:t>
            </a:r>
            <a:endParaRPr lang="en-US" altLang="en-US" sz="27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48" name="path"/>
          <p:cNvSpPr/>
          <p:nvPr/>
        </p:nvSpPr>
        <p:spPr>
          <a:xfrm>
            <a:off x="7980426" y="3820667"/>
            <a:ext cx="1119378" cy="669035"/>
          </a:xfrm>
          <a:custGeom>
            <a:avLst/>
            <a:gdLst/>
            <a:ahLst/>
            <a:cxnLst/>
            <a:rect l="0" t="0" r="0" b="0"/>
            <a:pathLst>
              <a:path w="1762" h="1053">
                <a:moveTo>
                  <a:pt x="1" y="264"/>
                </a:moveTo>
                <a:moveTo>
                  <a:pt x="1" y="264"/>
                </a:moveTo>
                <a:lnTo>
                  <a:pt x="68" y="264"/>
                </a:lnTo>
                <a:lnTo>
                  <a:pt x="68" y="789"/>
                </a:lnTo>
                <a:lnTo>
                  <a:pt x="1" y="789"/>
                </a:lnTo>
                <a:lnTo>
                  <a:pt x="1" y="264"/>
                </a:lnTo>
                <a:close/>
                <a:moveTo>
                  <a:pt x="99" y="264"/>
                </a:moveTo>
                <a:moveTo>
                  <a:pt x="99" y="264"/>
                </a:moveTo>
                <a:lnTo>
                  <a:pt x="1234" y="264"/>
                </a:lnTo>
                <a:lnTo>
                  <a:pt x="1234" y="0"/>
                </a:lnTo>
                <a:lnTo>
                  <a:pt x="1762" y="525"/>
                </a:lnTo>
                <a:lnTo>
                  <a:pt x="1234" y="1053"/>
                </a:lnTo>
                <a:lnTo>
                  <a:pt x="1234" y="789"/>
                </a:lnTo>
                <a:lnTo>
                  <a:pt x="99" y="789"/>
                </a:lnTo>
                <a:lnTo>
                  <a:pt x="99" y="264"/>
                </a:lnTo>
              </a:path>
            </a:pathLst>
          </a:custGeom>
          <a:solidFill>
            <a:srgbClr val="FFD1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50" name="picture 4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894162" y="402989"/>
            <a:ext cx="1797964" cy="369678"/>
          </a:xfrm>
          <a:prstGeom prst="rect">
            <a:avLst/>
          </a:prstGeom>
        </p:spPr>
      </p:pic>
      <p:pic>
        <p:nvPicPr>
          <p:cNvPr id="452" name="picture 4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29257" y="371140"/>
            <a:ext cx="639164" cy="617238"/>
          </a:xfrm>
          <a:prstGeom prst="rect">
            <a:avLst/>
          </a:prstGeom>
        </p:spPr>
      </p:pic>
      <p:sp>
        <p:nvSpPr>
          <p:cNvPr id="454" name="rect"/>
          <p:cNvSpPr/>
          <p:nvPr/>
        </p:nvSpPr>
        <p:spPr>
          <a:xfrm>
            <a:off x="7940040" y="3987546"/>
            <a:ext cx="20573" cy="335279"/>
          </a:xfrm>
          <a:prstGeom prst="rect">
            <a:avLst/>
          </a:prstGeom>
          <a:solidFill>
            <a:srgbClr val="FFD1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picture 4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496811" y="1031747"/>
            <a:ext cx="2532888" cy="4916423"/>
          </a:xfrm>
          <a:prstGeom prst="rect">
            <a:avLst/>
          </a:prstGeom>
        </p:spPr>
      </p:pic>
      <p:pic>
        <p:nvPicPr>
          <p:cNvPr id="458" name="picture 4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53210" y="2630423"/>
            <a:ext cx="4016641" cy="3446360"/>
          </a:xfrm>
          <a:prstGeom prst="rect">
            <a:avLst/>
          </a:prstGeom>
        </p:spPr>
      </p:pic>
      <p:pic>
        <p:nvPicPr>
          <p:cNvPr id="460" name="picture 4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45349" y="1031747"/>
            <a:ext cx="2331262" cy="4916423"/>
          </a:xfrm>
          <a:prstGeom prst="rect">
            <a:avLst/>
          </a:prstGeom>
        </p:spPr>
      </p:pic>
      <p:pic>
        <p:nvPicPr>
          <p:cNvPr id="462" name="picture 4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697338" y="1031747"/>
            <a:ext cx="2331250" cy="4916423"/>
          </a:xfrm>
          <a:prstGeom prst="rect">
            <a:avLst/>
          </a:prstGeom>
        </p:spPr>
      </p:pic>
      <p:sp>
        <p:nvSpPr>
          <p:cNvPr id="464" name="textbox 464"/>
          <p:cNvSpPr/>
          <p:nvPr/>
        </p:nvSpPr>
        <p:spPr>
          <a:xfrm>
            <a:off x="945348" y="6182867"/>
            <a:ext cx="9440311" cy="5016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lang="en-US" altLang="en-US" sz="8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l" rtl="0" eaLnBrk="0">
              <a:lnSpc>
                <a:spcPct val="7000"/>
              </a:lnSpc>
            </a:pPr>
            <a:endParaRPr lang="en-US" altLang="en-US" sz="1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06070" algn="l" rtl="0" eaLnBrk="0">
              <a:lnSpc>
                <a:spcPct val="99000"/>
              </a:lnSpc>
            </a:pPr>
            <a:r>
              <a:rPr sz="1700" kern="0" spc="100" dirty="0" err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界面清晰，数据齐全，方便设备</a:t>
            </a:r>
            <a:r>
              <a:rPr sz="1700" kern="0" spc="90" dirty="0" err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管理，支持多种语言定制版本</a:t>
            </a:r>
            <a:r>
              <a:rPr lang="zh-CN" altLang="en-US" sz="1700" kern="0" spc="9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为您合作保驾护航！</a:t>
            </a:r>
            <a:endParaRPr lang="en-US" altLang="en-US" sz="17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66" name="textbox 466"/>
          <p:cNvSpPr/>
          <p:nvPr/>
        </p:nvSpPr>
        <p:spPr>
          <a:xfrm>
            <a:off x="1168421" y="451691"/>
            <a:ext cx="3536950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b="1" dirty="0"/>
          </a:p>
          <a:p>
            <a:pPr algn="r" rtl="0" eaLnBrk="0">
              <a:lnSpc>
                <a:spcPct val="98000"/>
              </a:lnSpc>
            </a:pPr>
            <a:r>
              <a:rPr sz="2700" b="1" kern="0" spc="-8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软件使用（</a:t>
            </a:r>
            <a:r>
              <a:rPr lang="zh-CN" sz="2700" b="1" kern="0" spc="-8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合作</a:t>
            </a:r>
            <a:r>
              <a:rPr sz="2700" b="1" kern="0" spc="-8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商端）</a:t>
            </a:r>
            <a:endParaRPr lang="en-US" altLang="en-US" sz="27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68" name="picture 4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894162" y="402989"/>
            <a:ext cx="1797964" cy="369678"/>
          </a:xfrm>
          <a:prstGeom prst="rect">
            <a:avLst/>
          </a:prstGeom>
        </p:spPr>
      </p:pic>
      <p:pic>
        <p:nvPicPr>
          <p:cNvPr id="470" name="picture 4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9257" y="371140"/>
            <a:ext cx="639164" cy="6172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50"/>
          <p:cNvGrpSpPr/>
          <p:nvPr/>
        </p:nvGrpSpPr>
        <p:grpSpPr>
          <a:xfrm rot="21600000">
            <a:off x="8068102" y="2200293"/>
            <a:ext cx="3147783" cy="3146338"/>
            <a:chOff x="0" y="0"/>
            <a:chExt cx="3147783" cy="3146338"/>
          </a:xfrm>
        </p:grpSpPr>
        <p:pic>
          <p:nvPicPr>
            <p:cNvPr id="472" name="picture 47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3147783" cy="3146338"/>
            </a:xfrm>
            <a:prstGeom prst="rect">
              <a:avLst/>
            </a:prstGeom>
          </p:spPr>
        </p:pic>
        <p:sp>
          <p:nvSpPr>
            <p:cNvPr id="474" name="textbox 474"/>
            <p:cNvSpPr/>
            <p:nvPr/>
          </p:nvSpPr>
          <p:spPr>
            <a:xfrm>
              <a:off x="-12700" y="-12700"/>
              <a:ext cx="3173729" cy="3171825"/>
            </a:xfrm>
            <a:prstGeom prst="rect">
              <a:avLst/>
            </a:prstGeom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6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6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6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6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6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6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7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7000"/>
                </a:lnSpc>
              </a:pPr>
              <a:endParaRPr lang="en-US" altLang="en-US" sz="1000" dirty="0"/>
            </a:p>
            <a:p>
              <a:pPr algn="l" rtl="0" eaLnBrk="0">
                <a:lnSpc>
                  <a:spcPct val="107000"/>
                </a:lnSpc>
              </a:pPr>
              <a:endParaRPr lang="en-US" altLang="en-US" sz="1000" dirty="0"/>
            </a:p>
            <a:p>
              <a:pPr marL="468630" algn="l" rtl="0" eaLnBrk="0">
                <a:lnSpc>
                  <a:spcPct val="83000"/>
                </a:lnSpc>
                <a:spcBef>
                  <a:spcPts val="5"/>
                </a:spcBef>
              </a:pP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③在</a:t>
              </a: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Calibri" panose="020F0502020204030204"/>
                  <a:ea typeface="Calibri" panose="020F0502020204030204"/>
                  <a:cs typeface="Calibri" panose="020F0502020204030204"/>
                </a:rPr>
                <a:t>APP</a:t>
              </a: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上寻找附近</a:t>
              </a:r>
              <a:endParaRPr lang="en-US" altLang="en-US" sz="2000" dirty="0"/>
            </a:p>
            <a:p>
              <a:pPr marL="681990" algn="l" rtl="0" eaLnBrk="0">
                <a:lnSpc>
                  <a:spcPts val="2880"/>
                </a:lnSpc>
              </a:pPr>
              <a:r>
                <a:rPr sz="2000" b="1" kern="0" spc="-20" dirty="0">
                  <a:solidFill>
                    <a:srgbClr val="FFFFFF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机柜归还充电宝</a:t>
              </a:r>
              <a:endParaRPr lang="en-US" altLang="en-US" sz="2000" dirty="0"/>
            </a:p>
          </p:txBody>
        </p:sp>
      </p:grpSp>
      <p:pic>
        <p:nvPicPr>
          <p:cNvPr id="476" name="picture 4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41732" y="2200293"/>
            <a:ext cx="3147782" cy="3146338"/>
          </a:xfrm>
          <a:prstGeom prst="rect">
            <a:avLst/>
          </a:prstGeom>
        </p:spPr>
      </p:pic>
      <p:pic>
        <p:nvPicPr>
          <p:cNvPr id="478" name="picture 4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15981" y="2200293"/>
            <a:ext cx="3146338" cy="3146338"/>
          </a:xfrm>
          <a:prstGeom prst="rect">
            <a:avLst/>
          </a:prstGeom>
        </p:spPr>
      </p:pic>
      <p:sp>
        <p:nvSpPr>
          <p:cNvPr id="480" name="textbox 480"/>
          <p:cNvSpPr/>
          <p:nvPr/>
        </p:nvSpPr>
        <p:spPr>
          <a:xfrm>
            <a:off x="3177539" y="6092952"/>
            <a:ext cx="5910579" cy="5003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</a:pPr>
            <a:endParaRPr lang="en-US" altLang="en-US" sz="800" dirty="0"/>
          </a:p>
          <a:p>
            <a:pPr algn="l" rtl="0" eaLnBrk="0">
              <a:lnSpc>
                <a:spcPct val="8000"/>
              </a:lnSpc>
            </a:pPr>
            <a:endParaRPr lang="en-US" altLang="en-US" sz="100" dirty="0"/>
          </a:p>
          <a:p>
            <a:pPr marL="335280" algn="l" rtl="0" eaLnBrk="0">
              <a:lnSpc>
                <a:spcPct val="99000"/>
              </a:lnSpc>
            </a:pPr>
            <a:r>
              <a:rPr sz="1700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流程简单，方便消费者使用，支持多种语言定制版本</a:t>
            </a:r>
            <a:endParaRPr lang="en-US" altLang="en-US" sz="17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82" name="textbox 482"/>
          <p:cNvSpPr/>
          <p:nvPr/>
        </p:nvSpPr>
        <p:spPr>
          <a:xfrm>
            <a:off x="4942085" y="3799370"/>
            <a:ext cx="2314575" cy="3124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4000"/>
              </a:lnSpc>
            </a:pP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②取走弹出的充电宝</a:t>
            </a:r>
            <a:endParaRPr lang="en-US" altLang="en-US" sz="2000" dirty="0"/>
          </a:p>
        </p:txBody>
      </p:sp>
      <p:pic>
        <p:nvPicPr>
          <p:cNvPr id="484" name="picture 4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051085" y="3882703"/>
            <a:ext cx="1655453" cy="1657918"/>
          </a:xfrm>
          <a:prstGeom prst="rect">
            <a:avLst/>
          </a:prstGeom>
        </p:spPr>
      </p:pic>
      <p:sp>
        <p:nvSpPr>
          <p:cNvPr id="486" name="textbox 486"/>
          <p:cNvSpPr/>
          <p:nvPr/>
        </p:nvSpPr>
        <p:spPr>
          <a:xfrm>
            <a:off x="1544354" y="3799370"/>
            <a:ext cx="2058035" cy="6508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3000"/>
              </a:lnSpc>
            </a:pP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①手机扫描机柜上</a:t>
            </a:r>
            <a:endParaRPr lang="en-US" altLang="en-US" sz="2000" dirty="0"/>
          </a:p>
          <a:p>
            <a:pPr marL="273050" algn="l" rtl="0" eaLnBrk="0">
              <a:lnSpc>
                <a:spcPts val="2920"/>
              </a:lnSpc>
            </a:pPr>
            <a:r>
              <a:rPr sz="2000" b="1" kern="0" spc="-30" dirty="0">
                <a:solidFill>
                  <a:srgbClr val="FFFFFF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二维码并注册</a:t>
            </a:r>
            <a:endParaRPr lang="en-US" altLang="en-US" sz="2000" dirty="0"/>
          </a:p>
        </p:txBody>
      </p:sp>
      <p:pic>
        <p:nvPicPr>
          <p:cNvPr id="488" name="picture 4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524715" y="3895263"/>
            <a:ext cx="1655453" cy="1645358"/>
          </a:xfrm>
          <a:prstGeom prst="rect">
            <a:avLst/>
          </a:prstGeom>
        </p:spPr>
      </p:pic>
      <p:pic>
        <p:nvPicPr>
          <p:cNvPr id="490" name="picture 49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051085" y="2018520"/>
            <a:ext cx="1655453" cy="1642816"/>
          </a:xfrm>
          <a:prstGeom prst="rect">
            <a:avLst/>
          </a:prstGeom>
        </p:spPr>
      </p:pic>
      <p:pic>
        <p:nvPicPr>
          <p:cNvPr id="492" name="picture 4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524359" y="1995368"/>
            <a:ext cx="1642815" cy="1642815"/>
          </a:xfrm>
          <a:prstGeom prst="rect">
            <a:avLst/>
          </a:prstGeom>
        </p:spPr>
      </p:pic>
      <p:sp>
        <p:nvSpPr>
          <p:cNvPr id="494" name="textbox 494"/>
          <p:cNvSpPr/>
          <p:nvPr/>
        </p:nvSpPr>
        <p:spPr>
          <a:xfrm>
            <a:off x="1171091" y="377741"/>
            <a:ext cx="3181350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algn="r" rtl="0" eaLnBrk="0">
              <a:lnSpc>
                <a:spcPct val="98000"/>
              </a:lnSpc>
            </a:pPr>
            <a:r>
              <a:rPr sz="2700" b="1" kern="0" spc="-10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软件使用（用户端）</a:t>
            </a:r>
            <a:endParaRPr lang="en-US" altLang="en-US" sz="2700" b="1" kern="0" spc="-100" dirty="0">
              <a:solidFill>
                <a:srgbClr val="000000">
                  <a:alpha val="100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496" name="picture 49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894162" y="402989"/>
            <a:ext cx="1797964" cy="369678"/>
          </a:xfrm>
          <a:prstGeom prst="rect">
            <a:avLst/>
          </a:prstGeom>
        </p:spPr>
      </p:pic>
      <p:pic>
        <p:nvPicPr>
          <p:cNvPr id="498" name="picture 49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29257" y="371140"/>
            <a:ext cx="639164" cy="617238"/>
          </a:xfrm>
          <a:prstGeom prst="rect">
            <a:avLst/>
          </a:prstGeom>
        </p:spPr>
      </p:pic>
      <p:sp>
        <p:nvSpPr>
          <p:cNvPr id="500" name="path"/>
          <p:cNvSpPr/>
          <p:nvPr/>
        </p:nvSpPr>
        <p:spPr>
          <a:xfrm>
            <a:off x="2294801" y="2864307"/>
            <a:ext cx="609688" cy="609676"/>
          </a:xfrm>
          <a:custGeom>
            <a:avLst/>
            <a:gdLst/>
            <a:ahLst/>
            <a:cxnLst/>
            <a:rect l="0" t="0" r="0" b="0"/>
            <a:pathLst>
              <a:path w="960" h="960">
                <a:moveTo>
                  <a:pt x="853" y="106"/>
                </a:moveTo>
                <a:lnTo>
                  <a:pt x="693" y="106"/>
                </a:lnTo>
                <a:cubicBezTo>
                  <a:pt x="663" y="106"/>
                  <a:pt x="640" y="82"/>
                  <a:pt x="640" y="53"/>
                </a:cubicBezTo>
                <a:cubicBezTo>
                  <a:pt x="640" y="23"/>
                  <a:pt x="663" y="0"/>
                  <a:pt x="693" y="0"/>
                </a:cubicBezTo>
                <a:lnTo>
                  <a:pt x="906" y="0"/>
                </a:lnTo>
                <a:cubicBezTo>
                  <a:pt x="936" y="0"/>
                  <a:pt x="960" y="23"/>
                  <a:pt x="960" y="53"/>
                </a:cubicBezTo>
                <a:lnTo>
                  <a:pt x="960" y="266"/>
                </a:lnTo>
                <a:cubicBezTo>
                  <a:pt x="960" y="296"/>
                  <a:pt x="936" y="320"/>
                  <a:pt x="906" y="320"/>
                </a:cubicBezTo>
                <a:cubicBezTo>
                  <a:pt x="877" y="320"/>
                  <a:pt x="853" y="296"/>
                  <a:pt x="853" y="266"/>
                </a:cubicBezTo>
                <a:lnTo>
                  <a:pt x="853" y="106"/>
                </a:lnTo>
                <a:close/>
                <a:moveTo>
                  <a:pt x="106" y="106"/>
                </a:moveTo>
                <a:lnTo>
                  <a:pt x="106" y="266"/>
                </a:lnTo>
                <a:cubicBezTo>
                  <a:pt x="106" y="296"/>
                  <a:pt x="82" y="320"/>
                  <a:pt x="53" y="320"/>
                </a:cubicBezTo>
                <a:cubicBezTo>
                  <a:pt x="23" y="320"/>
                  <a:pt x="0" y="296"/>
                  <a:pt x="0" y="266"/>
                </a:cubicBezTo>
                <a:lnTo>
                  <a:pt x="0" y="53"/>
                </a:lnTo>
                <a:cubicBezTo>
                  <a:pt x="0" y="23"/>
                  <a:pt x="23" y="0"/>
                  <a:pt x="53" y="0"/>
                </a:cubicBezTo>
                <a:lnTo>
                  <a:pt x="266" y="0"/>
                </a:lnTo>
                <a:cubicBezTo>
                  <a:pt x="296" y="0"/>
                  <a:pt x="320" y="23"/>
                  <a:pt x="320" y="53"/>
                </a:cubicBezTo>
                <a:cubicBezTo>
                  <a:pt x="320" y="82"/>
                  <a:pt x="296" y="106"/>
                  <a:pt x="266" y="106"/>
                </a:cubicBezTo>
                <a:lnTo>
                  <a:pt x="106" y="106"/>
                </a:lnTo>
                <a:close/>
                <a:moveTo>
                  <a:pt x="853" y="853"/>
                </a:moveTo>
                <a:lnTo>
                  <a:pt x="853" y="693"/>
                </a:lnTo>
                <a:cubicBezTo>
                  <a:pt x="853" y="663"/>
                  <a:pt x="877" y="640"/>
                  <a:pt x="906" y="640"/>
                </a:cubicBezTo>
                <a:cubicBezTo>
                  <a:pt x="936" y="640"/>
                  <a:pt x="960" y="663"/>
                  <a:pt x="960" y="693"/>
                </a:cubicBezTo>
                <a:lnTo>
                  <a:pt x="960" y="906"/>
                </a:lnTo>
                <a:cubicBezTo>
                  <a:pt x="960" y="936"/>
                  <a:pt x="936" y="960"/>
                  <a:pt x="906" y="960"/>
                </a:cubicBezTo>
                <a:lnTo>
                  <a:pt x="693" y="960"/>
                </a:lnTo>
                <a:cubicBezTo>
                  <a:pt x="663" y="960"/>
                  <a:pt x="640" y="936"/>
                  <a:pt x="640" y="906"/>
                </a:cubicBezTo>
                <a:cubicBezTo>
                  <a:pt x="640" y="877"/>
                  <a:pt x="663" y="853"/>
                  <a:pt x="693" y="853"/>
                </a:cubicBezTo>
                <a:lnTo>
                  <a:pt x="853" y="853"/>
                </a:lnTo>
                <a:close/>
                <a:moveTo>
                  <a:pt x="106" y="853"/>
                </a:moveTo>
                <a:lnTo>
                  <a:pt x="266" y="853"/>
                </a:lnTo>
                <a:cubicBezTo>
                  <a:pt x="296" y="853"/>
                  <a:pt x="320" y="877"/>
                  <a:pt x="320" y="906"/>
                </a:cubicBezTo>
                <a:cubicBezTo>
                  <a:pt x="320" y="936"/>
                  <a:pt x="296" y="960"/>
                  <a:pt x="266" y="960"/>
                </a:cubicBezTo>
                <a:lnTo>
                  <a:pt x="53" y="960"/>
                </a:lnTo>
                <a:cubicBezTo>
                  <a:pt x="23" y="960"/>
                  <a:pt x="0" y="936"/>
                  <a:pt x="0" y="906"/>
                </a:cubicBezTo>
                <a:lnTo>
                  <a:pt x="0" y="693"/>
                </a:lnTo>
                <a:cubicBezTo>
                  <a:pt x="0" y="663"/>
                  <a:pt x="23" y="640"/>
                  <a:pt x="53" y="640"/>
                </a:cubicBezTo>
                <a:cubicBezTo>
                  <a:pt x="82" y="640"/>
                  <a:pt x="106" y="663"/>
                  <a:pt x="106" y="693"/>
                </a:cubicBezTo>
                <a:lnTo>
                  <a:pt x="106" y="853"/>
                </a:lnTo>
                <a:close/>
                <a:moveTo>
                  <a:pt x="213" y="533"/>
                </a:moveTo>
                <a:cubicBezTo>
                  <a:pt x="183" y="533"/>
                  <a:pt x="160" y="509"/>
                  <a:pt x="160" y="480"/>
                </a:cubicBezTo>
                <a:cubicBezTo>
                  <a:pt x="160" y="450"/>
                  <a:pt x="183" y="426"/>
                  <a:pt x="213" y="426"/>
                </a:cubicBezTo>
                <a:lnTo>
                  <a:pt x="746" y="426"/>
                </a:lnTo>
                <a:cubicBezTo>
                  <a:pt x="776" y="426"/>
                  <a:pt x="800" y="450"/>
                  <a:pt x="800" y="480"/>
                </a:cubicBezTo>
                <a:cubicBezTo>
                  <a:pt x="800" y="509"/>
                  <a:pt x="776" y="533"/>
                  <a:pt x="746" y="533"/>
                </a:cubicBezTo>
                <a:lnTo>
                  <a:pt x="213" y="533"/>
                </a:lnTo>
              </a:path>
            </a:pathLst>
          </a:custGeom>
          <a:solidFill>
            <a:srgbClr val="FFFFFF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02" name="picture 50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850623" y="2826689"/>
            <a:ext cx="490651" cy="7054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path"/>
          <p:cNvSpPr/>
          <p:nvPr/>
        </p:nvSpPr>
        <p:spPr>
          <a:xfrm>
            <a:off x="336804" y="326135"/>
            <a:ext cx="11518392" cy="6147816"/>
          </a:xfrm>
          <a:custGeom>
            <a:avLst/>
            <a:gdLst/>
            <a:ahLst/>
            <a:cxnLst/>
            <a:rect l="0" t="0" r="0" b="0"/>
            <a:pathLst>
              <a:path w="18139" h="9681">
                <a:moveTo>
                  <a:pt x="0" y="0"/>
                </a:moveTo>
                <a:lnTo>
                  <a:pt x="18139" y="0"/>
                </a:lnTo>
                <a:lnTo>
                  <a:pt x="18139" y="9681"/>
                </a:lnTo>
                <a:lnTo>
                  <a:pt x="0" y="9681"/>
                </a:lnTo>
                <a:lnTo>
                  <a:pt x="0" y="0"/>
                </a:lnTo>
                <a:close/>
                <a:moveTo>
                  <a:pt x="153" y="153"/>
                </a:moveTo>
                <a:lnTo>
                  <a:pt x="153" y="9530"/>
                </a:lnTo>
                <a:lnTo>
                  <a:pt x="17985" y="9530"/>
                </a:lnTo>
                <a:lnTo>
                  <a:pt x="17985" y="153"/>
                </a:lnTo>
                <a:lnTo>
                  <a:pt x="153" y="153"/>
                </a:lnTo>
              </a:path>
            </a:pathLst>
          </a:custGeom>
          <a:solidFill>
            <a:srgbClr val="FFC000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" name="textbox 26"/>
          <p:cNvSpPr/>
          <p:nvPr/>
        </p:nvSpPr>
        <p:spPr>
          <a:xfrm>
            <a:off x="837397" y="2622383"/>
            <a:ext cx="10664792" cy="11314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22860" algn="l" rtl="0" eaLnBrk="0">
              <a:lnSpc>
                <a:spcPct val="87000"/>
              </a:lnSpc>
            </a:pPr>
            <a:r>
              <a:rPr lang="zh-CN" altLang="en-US" sz="4800" b="1" kern="0" spc="70" dirty="0">
                <a:solidFill>
                  <a:srgbClr val="262626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二</a:t>
            </a:r>
            <a:r>
              <a:rPr lang="zh-CN" sz="4800" b="1" kern="0" spc="70" dirty="0">
                <a:solidFill>
                  <a:srgbClr val="262626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zh-CN" altLang="en-US" sz="4800" b="1" kern="0" spc="70" dirty="0">
                <a:solidFill>
                  <a:srgbClr val="262626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平台优势</a:t>
            </a:r>
            <a:r>
              <a:rPr lang="en-US" sz="4800" b="1" kern="0" spc="70" dirty="0">
                <a:solidFill>
                  <a:srgbClr val="262626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-</a:t>
            </a:r>
            <a:r>
              <a:rPr lang="zh-CN" altLang="en-US" sz="2300" b="1" kern="0" spc="70" dirty="0">
                <a:solidFill>
                  <a:srgbClr val="262626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丰富的使用场景及营销动作助力合作商持续盈利</a:t>
            </a:r>
            <a:endParaRPr lang="en-US" altLang="en-US" sz="23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3335" algn="l" rtl="0" eaLnBrk="0">
              <a:lnSpc>
                <a:spcPts val="5850"/>
              </a:lnSpc>
            </a:pPr>
            <a:endParaRPr lang="en-US" altLang="en-US" sz="1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3810812" y="1102245"/>
            <a:ext cx="3439795" cy="8540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lang="en-US" altLang="en-US" sz="100" dirty="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07307" y="6239899"/>
            <a:ext cx="10499876" cy="354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picture 6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894162" y="402989"/>
            <a:ext cx="1797964" cy="369678"/>
          </a:xfrm>
          <a:prstGeom prst="rect">
            <a:avLst/>
          </a:prstGeom>
        </p:spPr>
      </p:pic>
      <p:sp>
        <p:nvSpPr>
          <p:cNvPr id="656" name="textbox 656"/>
          <p:cNvSpPr/>
          <p:nvPr/>
        </p:nvSpPr>
        <p:spPr>
          <a:xfrm>
            <a:off x="1263332" y="417638"/>
            <a:ext cx="4201795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700" algn="l" rtl="0" eaLnBrk="0">
              <a:lnSpc>
                <a:spcPct val="98000"/>
              </a:lnSpc>
            </a:pPr>
            <a:r>
              <a:rPr lang="zh-CN" sz="2700" b="1" kern="0" spc="6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平台产品优势</a:t>
            </a:r>
            <a:endParaRPr lang="zh-CN" sz="2700" b="1" kern="0" spc="60" dirty="0">
              <a:solidFill>
                <a:srgbClr val="000000">
                  <a:alpha val="100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666" name="picture 6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9257" y="371140"/>
            <a:ext cx="639164" cy="617238"/>
          </a:xfrm>
          <a:prstGeom prst="rect">
            <a:avLst/>
          </a:prstGeom>
        </p:spPr>
      </p:pic>
      <p:sp>
        <p:nvSpPr>
          <p:cNvPr id="5" name="左弧形箭头 4"/>
          <p:cNvSpPr/>
          <p:nvPr>
            <p:custDataLst>
              <p:tags r:id="rId3"/>
            </p:custDataLst>
          </p:nvPr>
        </p:nvSpPr>
        <p:spPr>
          <a:xfrm rot="16380000" flipH="1">
            <a:off x="4860290" y="2590800"/>
            <a:ext cx="1209675" cy="217932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57" y="1334404"/>
            <a:ext cx="10617774" cy="51524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picture 6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894162" y="402989"/>
            <a:ext cx="1797964" cy="369678"/>
          </a:xfrm>
          <a:prstGeom prst="rect">
            <a:avLst/>
          </a:prstGeom>
        </p:spPr>
      </p:pic>
      <p:sp>
        <p:nvSpPr>
          <p:cNvPr id="656" name="textbox 656"/>
          <p:cNvSpPr/>
          <p:nvPr/>
        </p:nvSpPr>
        <p:spPr>
          <a:xfrm>
            <a:off x="1357530" y="465764"/>
            <a:ext cx="3628390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r>
              <a:rPr lang="zh-CN" sz="2700" b="1" kern="0" spc="6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平台产品优势</a:t>
            </a:r>
            <a:endParaRPr lang="zh-CN" sz="2700" b="1" kern="0" spc="60" dirty="0">
              <a:solidFill>
                <a:srgbClr val="000000">
                  <a:alpha val="100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666" name="picture 6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9257" y="371140"/>
            <a:ext cx="639164" cy="617238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733550" y="1129030"/>
            <a:ext cx="816038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节假日不定时推出线上曝光活动，增加商户曝光，助力假期节日燃爆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0175" y="1699260"/>
            <a:ext cx="3590925" cy="51339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186555" y="1699260"/>
            <a:ext cx="3629025" cy="5040630"/>
          </a:xfrm>
          <a:prstGeom prst="rect">
            <a:avLst/>
          </a:prstGeom>
        </p:spPr>
      </p:pic>
      <p:pic>
        <p:nvPicPr>
          <p:cNvPr id="10" name="图片 9" descr="51723276133_.pic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0690" y="1680845"/>
            <a:ext cx="2990850" cy="5049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picture 6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894162" y="402989"/>
            <a:ext cx="1797964" cy="369678"/>
          </a:xfrm>
          <a:prstGeom prst="rect">
            <a:avLst/>
          </a:prstGeom>
        </p:spPr>
      </p:pic>
      <p:sp>
        <p:nvSpPr>
          <p:cNvPr id="656" name="textbox 656"/>
          <p:cNvSpPr/>
          <p:nvPr/>
        </p:nvSpPr>
        <p:spPr>
          <a:xfrm>
            <a:off x="1263332" y="465764"/>
            <a:ext cx="4201795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700" algn="l" rtl="0" eaLnBrk="0">
              <a:lnSpc>
                <a:spcPct val="98000"/>
              </a:lnSpc>
            </a:pPr>
            <a:r>
              <a:rPr lang="zh-CN" sz="2700" b="1" kern="0" spc="6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二、平台产品优势</a:t>
            </a:r>
            <a:endParaRPr lang="zh-CN" sz="2700" b="1" kern="0" spc="60" dirty="0">
              <a:solidFill>
                <a:srgbClr val="000000">
                  <a:alpha val="100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666" name="picture 6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9257" y="371140"/>
            <a:ext cx="639164" cy="617238"/>
          </a:xfrm>
          <a:prstGeom prst="rect">
            <a:avLst/>
          </a:prstGeom>
        </p:spPr>
      </p:pic>
      <p:pic>
        <p:nvPicPr>
          <p:cNvPr id="7" name="图片 6" descr="21531619406429_.pic_hd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8839" y="1371366"/>
            <a:ext cx="2827755" cy="5274945"/>
          </a:xfrm>
          <a:prstGeom prst="rect">
            <a:avLst/>
          </a:prstGeom>
        </p:spPr>
      </p:pic>
      <p:sp>
        <p:nvSpPr>
          <p:cNvPr id="5" name="左弧形箭头 4"/>
          <p:cNvSpPr/>
          <p:nvPr>
            <p:custDataLst>
              <p:tags r:id="rId5"/>
            </p:custDataLst>
          </p:nvPr>
        </p:nvSpPr>
        <p:spPr>
          <a:xfrm rot="16380000" flipH="1">
            <a:off x="4860290" y="2590800"/>
            <a:ext cx="1209675" cy="217932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743067" y="1605280"/>
            <a:ext cx="3709969" cy="4478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picture 6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894162" y="402989"/>
            <a:ext cx="1797964" cy="369678"/>
          </a:xfrm>
          <a:prstGeom prst="rect">
            <a:avLst/>
          </a:prstGeom>
        </p:spPr>
      </p:pic>
      <p:sp>
        <p:nvSpPr>
          <p:cNvPr id="656" name="textbox 656"/>
          <p:cNvSpPr/>
          <p:nvPr/>
        </p:nvSpPr>
        <p:spPr>
          <a:xfrm>
            <a:off x="1263332" y="465764"/>
            <a:ext cx="4201795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12700" algn="l" rtl="0" eaLnBrk="0">
              <a:lnSpc>
                <a:spcPct val="98000"/>
              </a:lnSpc>
            </a:pPr>
            <a:r>
              <a:rPr lang="zh-CN" sz="2700" b="1" kern="0" spc="6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二、平台产品优势</a:t>
            </a:r>
            <a:endParaRPr lang="zh-CN" sz="2700" b="1" kern="0" spc="60" dirty="0">
              <a:solidFill>
                <a:srgbClr val="000000">
                  <a:alpha val="100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666" name="picture 6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9257" y="371140"/>
            <a:ext cx="639164" cy="61723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34" y="1434164"/>
            <a:ext cx="11287839" cy="481313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picture 7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894162" y="402989"/>
            <a:ext cx="1797964" cy="369678"/>
          </a:xfrm>
          <a:prstGeom prst="rect">
            <a:avLst/>
          </a:prstGeom>
        </p:spPr>
      </p:pic>
      <p:sp>
        <p:nvSpPr>
          <p:cNvPr id="730" name="textbox 730"/>
          <p:cNvSpPr/>
          <p:nvPr/>
        </p:nvSpPr>
        <p:spPr>
          <a:xfrm>
            <a:off x="1411839" y="518160"/>
            <a:ext cx="5572125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r>
              <a:rPr lang="en-US" altLang="zh-CN" sz="2700" b="1" kern="0" spc="6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4.</a:t>
            </a:r>
            <a:r>
              <a:rPr lang="zh-CN" altLang="en-US" sz="2700" b="1" kern="0" spc="60" dirty="0">
                <a:solidFill>
                  <a:srgbClr val="000000">
                    <a:alpha val="10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专业赋能为您保驾护航</a:t>
            </a:r>
            <a:endParaRPr lang="zh-CN" sz="2700" b="1" kern="0" spc="60" dirty="0">
              <a:solidFill>
                <a:srgbClr val="000000">
                  <a:alpha val="100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  <p:pic>
        <p:nvPicPr>
          <p:cNvPr id="732" name="picture 7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9257" y="371140"/>
            <a:ext cx="639164" cy="61723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68400" y="1447800"/>
            <a:ext cx="3124200" cy="19812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926965" y="1447800"/>
            <a:ext cx="3114675" cy="2362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860290" y="3992245"/>
            <a:ext cx="3181350" cy="2286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168400" y="4144645"/>
            <a:ext cx="3114675" cy="19812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128000" y="1447800"/>
            <a:ext cx="406400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、美团针对合作商是有合作商负责人的单独培训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、合作商的团队体系培训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、渠道经理专业对接扶持合作商培训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、合作商之间大会交流培训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8375650" y="5664200"/>
            <a:ext cx="3559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备注：所有调整公司都会提前通知到合作商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picture 7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9894162" y="402989"/>
            <a:ext cx="1797964" cy="369678"/>
          </a:xfrm>
          <a:prstGeom prst="rect">
            <a:avLst/>
          </a:prstGeom>
        </p:spPr>
      </p:pic>
      <p:sp>
        <p:nvSpPr>
          <p:cNvPr id="730" name="textbox 730"/>
          <p:cNvSpPr/>
          <p:nvPr/>
        </p:nvSpPr>
        <p:spPr>
          <a:xfrm>
            <a:off x="4116472" y="3215005"/>
            <a:ext cx="1431925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8000"/>
              </a:lnSpc>
            </a:pPr>
            <a:endParaRPr lang="en-US" altLang="en-US" sz="2700" dirty="0"/>
          </a:p>
        </p:txBody>
      </p:sp>
      <p:sp>
        <p:nvSpPr>
          <p:cNvPr id="2" name="矩形 1"/>
          <p:cNvSpPr/>
          <p:nvPr/>
        </p:nvSpPr>
        <p:spPr>
          <a:xfrm>
            <a:off x="4868675" y="3703153"/>
            <a:ext cx="22813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THANKS</a:t>
            </a:r>
            <a:endParaRPr lang="zh-CN" alt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01307" y="2261596"/>
            <a:ext cx="503214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latin typeface="楷体" panose="02010609060101010101" pitchFamily="49" charset="-122"/>
                <a:ea typeface="楷体" panose="02010609060101010101" pitchFamily="49" charset="-122"/>
              </a:rPr>
              <a:t>期待与您合作！</a:t>
            </a:r>
            <a:endParaRPr lang="zh-CN" alt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1310</Words>
  <Application>WPS 演示</Application>
  <PresentationFormat>宽屏</PresentationFormat>
  <Paragraphs>238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楷体</vt:lpstr>
      <vt:lpstr>微软雅黑</vt:lpstr>
      <vt:lpstr>Calibri</vt:lpstr>
      <vt:lpstr>华文楷体</vt:lpstr>
      <vt:lpstr>Arial</vt:lpstr>
      <vt:lpstr>Arial Unicode MS</vt:lpstr>
      <vt:lpstr>Calibri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阳光男孩</cp:lastModifiedBy>
  <cp:revision>24</cp:revision>
  <dcterms:created xsi:type="dcterms:W3CDTF">2024-08-12T06:54:00Z</dcterms:created>
  <dcterms:modified xsi:type="dcterms:W3CDTF">2026-09-01T03:43:29Z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wqlLaW5nc29mdCBQREYgdG8gV1BTIDkw</vt:lpwstr>
  </property>
  <property fmtid="{D5CDD505-2E9C-101B-9397-08002B2CF9AE}" pid="3" name="Created">
    <vt:filetime>2024-02-26T22:41:46Z</vt:filetime>
  </property>
  <property fmtid="{D5CDD505-2E9C-101B-9397-08002B2CF9AE}" pid="4" name="ICV">
    <vt:lpwstr>2E08E8A585B640579D0D047A8F2B3BCE_13</vt:lpwstr>
  </property>
  <property fmtid="{D5CDD505-2E9C-101B-9397-08002B2CF9AE}" pid="5" name="KSOProductBuildVer">
    <vt:lpwstr>2052-12.1.0.28043</vt:lpwstr>
  </property>
  <property fmtid="{D5CDD505-2E9C-101B-9397-08002B2CF9AE}" pid="6" name="f">
    <vt:lpwstr>美团合作方案-王刘兵.pptx</vt:lpwstr>
  </property>
  <property fmtid="{D5CDD505-2E9C-101B-9397-08002B2CF9AE}" pid="7" name="o">
    <vt:lpwstr>ORG_INFO</vt:lpwstr>
  </property>
  <property fmtid="{D5CDD505-2E9C-101B-9397-08002B2CF9AE}" pid="8" name="d">
    <vt:lpwstr>XM</vt:lpwstr>
  </property>
  <property fmtid="{D5CDD505-2E9C-101B-9397-08002B2CF9AE}" pid="9" name="i">
    <vt:lpwstr>1</vt:lpwstr>
  </property>
  <property fmtid="{D5CDD505-2E9C-101B-9397-08002B2CF9AE}" pid="10" name="s">
    <vt:lpwstr>d718df68b329c777bd7bb017332fff69f109661e</vt:lpwstr>
  </property>
</Properties>
</file>